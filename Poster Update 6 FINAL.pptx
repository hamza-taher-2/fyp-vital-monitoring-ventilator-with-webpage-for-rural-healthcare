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9" r:id="rId5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2D6D"/>
    <a:srgbClr val="7B357F"/>
    <a:srgbClr val="A346A8"/>
    <a:srgbClr val="C774B2"/>
    <a:srgbClr val="DAA2CB"/>
    <a:srgbClr val="D18BBF"/>
    <a:srgbClr val="8F3D93"/>
    <a:srgbClr val="A045A5"/>
    <a:srgbClr val="9E44A2"/>
    <a:srgbClr val="7B34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3035" autoAdjust="0"/>
    <p:restoredTop sz="94660"/>
  </p:normalViewPr>
  <p:slideViewPr>
    <p:cSldViewPr snapToGrid="0">
      <p:cViewPr>
        <p:scale>
          <a:sx n="44" d="100"/>
          <a:sy n="44" d="100"/>
        </p:scale>
        <p:origin x="2628" y="-3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58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79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51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71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23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05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228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169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321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87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57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AD07F-A461-478A-8E00-2511D473803D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D8A3A-515A-47F5-AF28-FF2EFD1D44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84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718CC-6EF4-EF6F-6DAF-77C4FC5E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0AA794DF-6C48-D0FA-C1AB-5DEB7CBE4A33}"/>
              </a:ext>
            </a:extLst>
          </p:cNvPr>
          <p:cNvSpPr/>
          <p:nvPr/>
        </p:nvSpPr>
        <p:spPr>
          <a:xfrm>
            <a:off x="16246874" y="8547226"/>
            <a:ext cx="5147907" cy="13271613"/>
          </a:xfrm>
          <a:prstGeom prst="rect">
            <a:avLst/>
          </a:prstGeom>
          <a:solidFill>
            <a:srgbClr val="F4D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921CD-FEBA-309A-1CC7-0652CEC3B879}"/>
              </a:ext>
            </a:extLst>
          </p:cNvPr>
          <p:cNvSpPr/>
          <p:nvPr/>
        </p:nvSpPr>
        <p:spPr>
          <a:xfrm>
            <a:off x="5509212" y="8530080"/>
            <a:ext cx="10350544" cy="13288759"/>
          </a:xfrm>
          <a:prstGeom prst="rect">
            <a:avLst/>
          </a:prstGeom>
          <a:solidFill>
            <a:srgbClr val="F4D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1511B6-7903-0CC7-260C-23C2DA29E91E}"/>
              </a:ext>
            </a:extLst>
          </p:cNvPr>
          <p:cNvSpPr/>
          <p:nvPr/>
        </p:nvSpPr>
        <p:spPr>
          <a:xfrm>
            <a:off x="0" y="17059779"/>
            <a:ext cx="5147907" cy="4732041"/>
          </a:xfrm>
          <a:prstGeom prst="rect">
            <a:avLst/>
          </a:prstGeom>
          <a:solidFill>
            <a:srgbClr val="F4D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57E59F-1D6B-E27F-0C50-361F9BD584A5}"/>
              </a:ext>
            </a:extLst>
          </p:cNvPr>
          <p:cNvSpPr/>
          <p:nvPr/>
        </p:nvSpPr>
        <p:spPr>
          <a:xfrm>
            <a:off x="2292329" y="-12195"/>
            <a:ext cx="16920000" cy="2667000"/>
          </a:xfrm>
          <a:prstGeom prst="rect">
            <a:avLst/>
          </a:prstGeom>
          <a:solidFill>
            <a:srgbClr val="420D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F5AB20-38F0-A88B-B987-4C950F2E5EB5}"/>
              </a:ext>
            </a:extLst>
          </p:cNvPr>
          <p:cNvSpPr/>
          <p:nvPr/>
        </p:nvSpPr>
        <p:spPr>
          <a:xfrm>
            <a:off x="5518520" y="7825519"/>
            <a:ext cx="10376896" cy="714887"/>
          </a:xfrm>
          <a:prstGeom prst="rect">
            <a:avLst/>
          </a:prstGeom>
          <a:solidFill>
            <a:srgbClr val="6A2D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80387F-CECA-3FDF-3815-F0C26A72AABA}"/>
              </a:ext>
            </a:extLst>
          </p:cNvPr>
          <p:cNvSpPr txBox="1"/>
          <p:nvPr/>
        </p:nvSpPr>
        <p:spPr>
          <a:xfrm>
            <a:off x="2292329" y="-30361"/>
            <a:ext cx="1692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Portable Vital Monitoring Ventilator with a Companion Webpage for Rural Healthcare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ABA44-BFF3-E465-9A48-DAB18CE3F389}"/>
              </a:ext>
            </a:extLst>
          </p:cNvPr>
          <p:cNvSpPr txBox="1"/>
          <p:nvPr/>
        </p:nvSpPr>
        <p:spPr>
          <a:xfrm>
            <a:off x="2738095" y="2042687"/>
            <a:ext cx="51219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Student: Muhammad Hamza Taher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0A2953-BB04-8A19-24F7-CC278320A2DE}"/>
              </a:ext>
            </a:extLst>
          </p:cNvPr>
          <p:cNvSpPr txBox="1"/>
          <p:nvPr/>
        </p:nvSpPr>
        <p:spPr>
          <a:xfrm>
            <a:off x="14798399" y="2005154"/>
            <a:ext cx="444710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Assessor: Dr Roberto Ferrero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070AB-92C5-2996-71E9-EBA7038A0665}"/>
              </a:ext>
            </a:extLst>
          </p:cNvPr>
          <p:cNvSpPr txBox="1"/>
          <p:nvPr/>
        </p:nvSpPr>
        <p:spPr>
          <a:xfrm>
            <a:off x="10684484" y="2005652"/>
            <a:ext cx="40573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 Dr Munira Raja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4D1888-AB60-8108-5655-EB9DA7B7A2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1762"/>
          <a:stretch>
            <a:fillRect/>
          </a:stretch>
        </p:blipFill>
        <p:spPr>
          <a:xfrm>
            <a:off x="19473617" y="108736"/>
            <a:ext cx="1752623" cy="2469829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7C4E77C7-C748-C6BB-FE02-5C27ED32CB2E}"/>
              </a:ext>
            </a:extLst>
          </p:cNvPr>
          <p:cNvSpPr/>
          <p:nvPr/>
        </p:nvSpPr>
        <p:spPr>
          <a:xfrm>
            <a:off x="16228373" y="22907336"/>
            <a:ext cx="5174175" cy="7367877"/>
          </a:xfrm>
          <a:prstGeom prst="rect">
            <a:avLst/>
          </a:prstGeom>
          <a:solidFill>
            <a:srgbClr val="F4D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99E5BE8-DEBB-8E9F-A587-8A55DCAA2874}"/>
              </a:ext>
            </a:extLst>
          </p:cNvPr>
          <p:cNvSpPr/>
          <p:nvPr/>
        </p:nvSpPr>
        <p:spPr>
          <a:xfrm>
            <a:off x="6445" y="22901527"/>
            <a:ext cx="15888971" cy="7398939"/>
          </a:xfrm>
          <a:prstGeom prst="rect">
            <a:avLst/>
          </a:prstGeom>
          <a:solidFill>
            <a:srgbClr val="F4D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424989-CFFE-7EBD-C793-BFDF8299329B}"/>
              </a:ext>
            </a:extLst>
          </p:cNvPr>
          <p:cNvSpPr/>
          <p:nvPr/>
        </p:nvSpPr>
        <p:spPr>
          <a:xfrm>
            <a:off x="-12051" y="3638452"/>
            <a:ext cx="10526077" cy="3809999"/>
          </a:xfrm>
          <a:prstGeom prst="rect">
            <a:avLst/>
          </a:prstGeom>
          <a:solidFill>
            <a:srgbClr val="F4D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39D933-BEAC-F114-776A-47C5196313E5}"/>
              </a:ext>
            </a:extLst>
          </p:cNvPr>
          <p:cNvSpPr/>
          <p:nvPr/>
        </p:nvSpPr>
        <p:spPr>
          <a:xfrm>
            <a:off x="6445" y="3042496"/>
            <a:ext cx="10499229" cy="624125"/>
          </a:xfrm>
          <a:prstGeom prst="rect">
            <a:avLst/>
          </a:prstGeom>
          <a:solidFill>
            <a:srgbClr val="6A2D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D636A7-109E-ABF4-DF38-4C4E6458B7AA}"/>
              </a:ext>
            </a:extLst>
          </p:cNvPr>
          <p:cNvSpPr txBox="1"/>
          <p:nvPr/>
        </p:nvSpPr>
        <p:spPr>
          <a:xfrm>
            <a:off x="-39462" y="3650450"/>
            <a:ext cx="1049922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aims to develop a system to remotely support health monitoring in rural South Asia via data transmission of vital data to nearby hospitals. [1]</a:t>
            </a:r>
          </a:p>
          <a:p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 include: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Utilising calibrated sensors to measure patient’s vitals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the patient’s vital data on an LCD and Webpage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 ventilator with adjustable setting (speed and pressure)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Rechargeable battery system for longer duration of use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alarm system activated when thresholds are exceeded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32C258-F002-D173-8618-9C82E99FE515}"/>
              </a:ext>
            </a:extLst>
          </p:cNvPr>
          <p:cNvSpPr txBox="1"/>
          <p:nvPr/>
        </p:nvSpPr>
        <p:spPr>
          <a:xfrm>
            <a:off x="-60691" y="3038547"/>
            <a:ext cx="1049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B81E1BC-D254-F10E-33F5-346910D01879}"/>
              </a:ext>
            </a:extLst>
          </p:cNvPr>
          <p:cNvSpPr txBox="1"/>
          <p:nvPr/>
        </p:nvSpPr>
        <p:spPr>
          <a:xfrm>
            <a:off x="16293722" y="15245678"/>
            <a:ext cx="514790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Rural areas in South Asia have high levels of chronic respiratory diseases resulting in 12% of deaths across all regions [8]. Paired with low medical access results in high mortality rates.</a:t>
            </a:r>
          </a:p>
          <a:p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CF1E3E-EA58-518A-F31F-830149AEF30C}"/>
              </a:ext>
            </a:extLst>
          </p:cNvPr>
          <p:cNvSpPr/>
          <p:nvPr/>
        </p:nvSpPr>
        <p:spPr>
          <a:xfrm>
            <a:off x="10869599" y="3590751"/>
            <a:ext cx="10514026" cy="3871720"/>
          </a:xfrm>
          <a:prstGeom prst="rect">
            <a:avLst/>
          </a:prstGeom>
          <a:solidFill>
            <a:srgbClr val="F4D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3CDBAC-7B88-A9BA-CDA4-F76DEB58E02D}"/>
              </a:ext>
            </a:extLst>
          </p:cNvPr>
          <p:cNvSpPr/>
          <p:nvPr/>
        </p:nvSpPr>
        <p:spPr>
          <a:xfrm>
            <a:off x="10869599" y="3029257"/>
            <a:ext cx="10525182" cy="609195"/>
          </a:xfrm>
          <a:prstGeom prst="rect">
            <a:avLst/>
          </a:prstGeom>
          <a:solidFill>
            <a:srgbClr val="6A2D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49CE56-8CFE-CF2D-7537-62E90AA36595}"/>
              </a:ext>
            </a:extLst>
          </p:cNvPr>
          <p:cNvSpPr txBox="1"/>
          <p:nvPr/>
        </p:nvSpPr>
        <p:spPr>
          <a:xfrm>
            <a:off x="10885854" y="3045238"/>
            <a:ext cx="10525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Information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8540804-1C83-E5E4-42DD-55459E707F8D}"/>
              </a:ext>
            </a:extLst>
          </p:cNvPr>
          <p:cNvSpPr txBox="1"/>
          <p:nvPr/>
        </p:nvSpPr>
        <p:spPr>
          <a:xfrm>
            <a:off x="15893995" y="3813316"/>
            <a:ext cx="53884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design (in Fig. 1) incorporates the following features: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Pico W to detect patients vitals to display on an LCD and webpage for remote monitoring [2]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Potentiometer-controlled motor acts as an adjustable ventilator [3]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Rechargeable battery and alarm system.</a:t>
            </a:r>
          </a:p>
        </p:txBody>
      </p:sp>
      <p:pic>
        <p:nvPicPr>
          <p:cNvPr id="72" name="Picture 71" descr="Diagram of a pressure gauge&#10;&#10;Description automatically generated">
            <a:extLst>
              <a:ext uri="{FF2B5EF4-FFF2-40B4-BE49-F238E27FC236}">
                <a16:creationId xmlns:a16="http://schemas.microsoft.com/office/drawing/2014/main" id="{C5E90A35-212E-9902-80A3-CC4529A778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9" r="7004"/>
          <a:stretch/>
        </p:blipFill>
        <p:spPr bwMode="auto">
          <a:xfrm>
            <a:off x="11122538" y="3948038"/>
            <a:ext cx="4612267" cy="28772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876F333C-91F3-27A3-B462-D79D51302D18}"/>
              </a:ext>
            </a:extLst>
          </p:cNvPr>
          <p:cNvSpPr txBox="1"/>
          <p:nvPr/>
        </p:nvSpPr>
        <p:spPr>
          <a:xfrm>
            <a:off x="16228373" y="23009766"/>
            <a:ext cx="5200337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was an overall success as the aims were met through the following objectives: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Responsive data displays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Calibrated sensors for vital reading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Adjustable functional ventilator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Alarm system active when exceeded thresholds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Further improvements include: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Larger battery capacity for longer time of usage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Longer transmission range for instant medical data refresh rate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patient database with encryption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sensors like ECG for better scope of information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447118-CFA6-DC01-4378-E30FFFE59DC3}"/>
              </a:ext>
            </a:extLst>
          </p:cNvPr>
          <p:cNvSpPr/>
          <p:nvPr/>
        </p:nvSpPr>
        <p:spPr>
          <a:xfrm>
            <a:off x="6445" y="16394573"/>
            <a:ext cx="5144515" cy="665205"/>
          </a:xfrm>
          <a:prstGeom prst="rect">
            <a:avLst/>
          </a:prstGeom>
          <a:solidFill>
            <a:srgbClr val="6A2D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435637-4F7F-D8AB-715E-89BF17F5E3DB}"/>
              </a:ext>
            </a:extLst>
          </p:cNvPr>
          <p:cNvSpPr txBox="1"/>
          <p:nvPr/>
        </p:nvSpPr>
        <p:spPr>
          <a:xfrm>
            <a:off x="5518520" y="7827072"/>
            <a:ext cx="1039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and Design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859BDAF-6B2B-C137-F226-ABEE5261D1A6}"/>
              </a:ext>
            </a:extLst>
          </p:cNvPr>
          <p:cNvSpPr/>
          <p:nvPr/>
        </p:nvSpPr>
        <p:spPr>
          <a:xfrm>
            <a:off x="16258032" y="7808199"/>
            <a:ext cx="5144515" cy="714887"/>
          </a:xfrm>
          <a:prstGeom prst="rect">
            <a:avLst/>
          </a:prstGeom>
          <a:solidFill>
            <a:srgbClr val="6A2D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D43315-A439-4F07-992B-480F0C4B57E2}"/>
              </a:ext>
            </a:extLst>
          </p:cNvPr>
          <p:cNvSpPr txBox="1"/>
          <p:nvPr/>
        </p:nvSpPr>
        <p:spPr>
          <a:xfrm>
            <a:off x="16285586" y="7779819"/>
            <a:ext cx="5125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Research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45019EA-F892-A51C-D07A-27C32DE89661}"/>
              </a:ext>
            </a:extLst>
          </p:cNvPr>
          <p:cNvSpPr/>
          <p:nvPr/>
        </p:nvSpPr>
        <p:spPr>
          <a:xfrm>
            <a:off x="7502" y="7808199"/>
            <a:ext cx="5169822" cy="665205"/>
          </a:xfrm>
          <a:prstGeom prst="rect">
            <a:avLst/>
          </a:prstGeom>
          <a:solidFill>
            <a:srgbClr val="6A2D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364DF5-B470-EFC7-1919-CCB8432085C0}"/>
              </a:ext>
            </a:extLst>
          </p:cNvPr>
          <p:cNvSpPr txBox="1"/>
          <p:nvPr/>
        </p:nvSpPr>
        <p:spPr>
          <a:xfrm>
            <a:off x="21337" y="7801474"/>
            <a:ext cx="5144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352C88-2AB4-08C6-BFDB-75966AD6FE23}"/>
              </a:ext>
            </a:extLst>
          </p:cNvPr>
          <p:cNvSpPr/>
          <p:nvPr/>
        </p:nvSpPr>
        <p:spPr>
          <a:xfrm>
            <a:off x="29417" y="8473403"/>
            <a:ext cx="5147907" cy="7544023"/>
          </a:xfrm>
          <a:prstGeom prst="rect">
            <a:avLst/>
          </a:prstGeom>
          <a:solidFill>
            <a:srgbClr val="F4D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4E126F-073C-FEA4-3AB4-B3C29F2DBD11}"/>
              </a:ext>
            </a:extLst>
          </p:cNvPr>
          <p:cNvSpPr txBox="1"/>
          <p:nvPr/>
        </p:nvSpPr>
        <p:spPr>
          <a:xfrm>
            <a:off x="16358880" y="8579510"/>
            <a:ext cx="5095992" cy="2826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to grow to $712.9 bn by 2030, the medical technology market is a fast-growing industry with IoT monitoring devices</a:t>
            </a:r>
            <a:r>
              <a:rPr lang="en-GB" sz="2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the highest market share of </a:t>
            </a:r>
            <a:r>
              <a:rPr lang="en-GB" sz="2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</a:t>
            </a:r>
            <a:r>
              <a:rPr lang="en-GB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%,(in Fig.2) reaching $40.7 bn by 2030 [7]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88770B8-B0A7-D6D4-4E21-32669EB13880}"/>
              </a:ext>
            </a:extLst>
          </p:cNvPr>
          <p:cNvSpPr/>
          <p:nvPr/>
        </p:nvSpPr>
        <p:spPr>
          <a:xfrm>
            <a:off x="16241894" y="22169942"/>
            <a:ext cx="5212978" cy="731584"/>
          </a:xfrm>
          <a:prstGeom prst="rect">
            <a:avLst/>
          </a:prstGeom>
          <a:solidFill>
            <a:srgbClr val="6A2D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DD9262-2619-D099-21A2-1284C542DD5E}"/>
              </a:ext>
            </a:extLst>
          </p:cNvPr>
          <p:cNvSpPr txBox="1"/>
          <p:nvPr/>
        </p:nvSpPr>
        <p:spPr>
          <a:xfrm>
            <a:off x="16267913" y="22201992"/>
            <a:ext cx="5143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D5D2CA-E80C-FAC1-D196-5F351F0750FD}"/>
              </a:ext>
            </a:extLst>
          </p:cNvPr>
          <p:cNvSpPr txBox="1"/>
          <p:nvPr/>
        </p:nvSpPr>
        <p:spPr>
          <a:xfrm>
            <a:off x="5668027" y="8621977"/>
            <a:ext cx="10213867" cy="2571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Pico W splits its attention between the motor, LCD, webpage, and sessors to manage signals to stop starvation for a cost-effective design [4].</a:t>
            </a:r>
            <a:endParaRPr lang="en-GB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areas with low access to power, a solar tracker was designed to track the sun to convert solar energy to a stable 5V output (in Fig.4) [5].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GB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6ED9E0-B759-5AAC-3734-8235164B51BE}"/>
              </a:ext>
            </a:extLst>
          </p:cNvPr>
          <p:cNvSpPr txBox="1"/>
          <p:nvPr/>
        </p:nvSpPr>
        <p:spPr>
          <a:xfrm>
            <a:off x="5564442" y="14159392"/>
            <a:ext cx="10213868" cy="1905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KiCAD schematic (in Fig.5) shows a shared 3.3V input and ground with i2C signal pins connecting to a Pico pin. The rechargeable LIPO battery uses a power sub-circuit and direct connection to the servo. Controlled by an ON/OFF button with the device booting until connected to WIFI.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29D5F2-0615-5CE2-4DFE-3F67DBD6E879}"/>
              </a:ext>
            </a:extLst>
          </p:cNvPr>
          <p:cNvSpPr/>
          <p:nvPr/>
        </p:nvSpPr>
        <p:spPr>
          <a:xfrm>
            <a:off x="0" y="22159366"/>
            <a:ext cx="15895416" cy="731584"/>
          </a:xfrm>
          <a:prstGeom prst="rect">
            <a:avLst/>
          </a:prstGeom>
          <a:solidFill>
            <a:srgbClr val="6A2D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E442F2-DBF3-4C3D-CB03-8E1BC5B5A966}"/>
              </a:ext>
            </a:extLst>
          </p:cNvPr>
          <p:cNvSpPr txBox="1"/>
          <p:nvPr/>
        </p:nvSpPr>
        <p:spPr>
          <a:xfrm>
            <a:off x="-4412" y="22195619"/>
            <a:ext cx="15861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Calibration Results and Discussion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B2C09CCD-74E6-1572-175A-72464C606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638" y="16029286"/>
            <a:ext cx="9374347" cy="52908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CBA478-9A4F-CEE5-255E-BD50A2D6C1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3833" y="17361782"/>
            <a:ext cx="4473968" cy="3851412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5FB33DDE-DA54-805E-8460-0676550FAEC3}"/>
              </a:ext>
            </a:extLst>
          </p:cNvPr>
          <p:cNvSpPr txBox="1"/>
          <p:nvPr/>
        </p:nvSpPr>
        <p:spPr>
          <a:xfrm>
            <a:off x="0" y="8442570"/>
            <a:ext cx="5200748" cy="547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is a monitoring aid, not a replacement for professional equipment [6]. </a:t>
            </a:r>
          </a:p>
          <a:p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updates includes data encryption and compliance with medical standards (Fig.6)</a:t>
            </a:r>
          </a:p>
          <a:p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specifications are as follows: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 accuracy: ± 5 BPM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latency: 15ms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 duration: 20 Hours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Alarm trigger success: 90%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215C83-67D8-BBB2-E369-8F660E088149}"/>
              </a:ext>
            </a:extLst>
          </p:cNvPr>
          <p:cNvSpPr txBox="1"/>
          <p:nvPr/>
        </p:nvSpPr>
        <p:spPr>
          <a:xfrm>
            <a:off x="-4412" y="16382614"/>
            <a:ext cx="5150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7A019B-9714-9E1C-348A-E50E5A5B55B8}"/>
              </a:ext>
            </a:extLst>
          </p:cNvPr>
          <p:cNvSpPr txBox="1"/>
          <p:nvPr/>
        </p:nvSpPr>
        <p:spPr>
          <a:xfrm>
            <a:off x="11180542" y="6892554"/>
            <a:ext cx="4612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1: Initial Sketch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BC326-58D7-C97C-4B54-98AA21E7AB0E}"/>
              </a:ext>
            </a:extLst>
          </p:cNvPr>
          <p:cNvSpPr txBox="1"/>
          <p:nvPr/>
        </p:nvSpPr>
        <p:spPr>
          <a:xfrm>
            <a:off x="5487074" y="13591957"/>
            <a:ext cx="1035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4: Block Diagram of Ventilator and Solar Tracker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6F7172-823E-619B-1C95-62548AA168F0}"/>
              </a:ext>
            </a:extLst>
          </p:cNvPr>
          <p:cNvSpPr txBox="1"/>
          <p:nvPr/>
        </p:nvSpPr>
        <p:spPr>
          <a:xfrm>
            <a:off x="5506159" y="21382201"/>
            <a:ext cx="10335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5: Ventilator System Schematic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E0264A-B929-846A-F0B2-5D275BEE1A88}"/>
              </a:ext>
            </a:extLst>
          </p:cNvPr>
          <p:cNvSpPr txBox="1"/>
          <p:nvPr/>
        </p:nvSpPr>
        <p:spPr>
          <a:xfrm>
            <a:off x="90051" y="2252729"/>
            <a:ext cx="21373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910027-27D8-1BBA-A45C-6354155425B4}"/>
              </a:ext>
            </a:extLst>
          </p:cNvPr>
          <p:cNvSpPr txBox="1"/>
          <p:nvPr/>
        </p:nvSpPr>
        <p:spPr>
          <a:xfrm>
            <a:off x="16218009" y="21307517"/>
            <a:ext cx="5165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3: Air Pollution in South Asia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962FAA-3B51-1CDC-A370-6F636714389C}"/>
              </a:ext>
            </a:extLst>
          </p:cNvPr>
          <p:cNvSpPr txBox="1"/>
          <p:nvPr/>
        </p:nvSpPr>
        <p:spPr>
          <a:xfrm>
            <a:off x="16258032" y="14797919"/>
            <a:ext cx="5125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2: Market Data of Medical 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8C539F-DAEE-A88A-A272-DF64732CD6BF}"/>
              </a:ext>
            </a:extLst>
          </p:cNvPr>
          <p:cNvSpPr txBox="1"/>
          <p:nvPr/>
        </p:nvSpPr>
        <p:spPr>
          <a:xfrm>
            <a:off x="29417" y="17095715"/>
            <a:ext cx="5058789" cy="465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Webster, J. (2017).</a:t>
            </a:r>
            <a:r>
              <a:rPr lang="en-GB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Medical Instrumentation: Application and Design.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Analog Devices (2019).</a:t>
            </a:r>
            <a:r>
              <a:rPr lang="en-GB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MAX30102 Pulse Oximeter and Heart-Rate Sensor Datasheet.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 Do Electronics (2022).</a:t>
            </a:r>
            <a:r>
              <a:rPr lang="en-GB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DIY Ventilator Using Arduino.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Raspberry Pi Foundation (2021).</a:t>
            </a:r>
            <a:r>
              <a:rPr lang="en-GB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Getting Started with Raspberry Pi Pico.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 Digest (2020).</a:t>
            </a:r>
            <a:r>
              <a:rPr lang="en-GB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Sun Tracking Solar Panel Using Arduino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 Health Organization (2019).</a:t>
            </a:r>
            <a:r>
              <a:rPr lang="en-GB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Technical Specifications for Medical Devices.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Nagarro (2024). </a:t>
            </a:r>
            <a:r>
              <a:rPr lang="en-GB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Devices Market Summary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IQAir (2024). </a:t>
            </a:r>
            <a:r>
              <a:rPr lang="en-GB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Air Quality Map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20FE18C-A360-35E3-4F7C-F34BA7F4050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14" t="2487"/>
          <a:stretch>
            <a:fillRect/>
          </a:stretch>
        </p:blipFill>
        <p:spPr>
          <a:xfrm>
            <a:off x="5668028" y="10691211"/>
            <a:ext cx="10040934" cy="291573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72A9128-3FC0-8AAC-5C63-6023FBC3635A}"/>
              </a:ext>
            </a:extLst>
          </p:cNvPr>
          <p:cNvSpPr txBox="1"/>
          <p:nvPr/>
        </p:nvSpPr>
        <p:spPr>
          <a:xfrm>
            <a:off x="2809986" y="29889596"/>
            <a:ext cx="5040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9: Air Pressure Calibration Graph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96D6BB-A60D-BFDF-4E85-B5C3CB76760F}"/>
              </a:ext>
            </a:extLst>
          </p:cNvPr>
          <p:cNvSpPr txBox="1"/>
          <p:nvPr/>
        </p:nvSpPr>
        <p:spPr>
          <a:xfrm>
            <a:off x="7911246" y="29909274"/>
            <a:ext cx="5228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10: Blood Oxygen Calibration Graph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A9E3C1-F232-1AD8-7306-0461724DE75A}"/>
              </a:ext>
            </a:extLst>
          </p:cNvPr>
          <p:cNvSpPr txBox="1"/>
          <p:nvPr/>
        </p:nvSpPr>
        <p:spPr>
          <a:xfrm>
            <a:off x="2809987" y="26163098"/>
            <a:ext cx="5001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8: Temperature Calibration Graph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8C6A5E-25D0-48FA-536D-DAD9CCD16AF1}"/>
              </a:ext>
            </a:extLst>
          </p:cNvPr>
          <p:cNvSpPr txBox="1"/>
          <p:nvPr/>
        </p:nvSpPr>
        <p:spPr>
          <a:xfrm>
            <a:off x="7923703" y="26148222"/>
            <a:ext cx="5066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7: Heart Rate Calibration Graph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62B23FA-5EC9-DBC8-2EE2-BEF47D94066B}"/>
              </a:ext>
            </a:extLst>
          </p:cNvPr>
          <p:cNvSpPr txBox="1"/>
          <p:nvPr/>
        </p:nvSpPr>
        <p:spPr>
          <a:xfrm>
            <a:off x="29418" y="22901526"/>
            <a:ext cx="28899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</a:t>
            </a: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8 shows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Calibrated against: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Thermometer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Adjusted using: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Libraries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 came from: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refresh rate adjustment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7BE6BDE-4C42-CA03-2D40-A60E1190F84C}"/>
              </a:ext>
            </a:extLst>
          </p:cNvPr>
          <p:cNvSpPr txBox="1"/>
          <p:nvPr/>
        </p:nvSpPr>
        <p:spPr>
          <a:xfrm>
            <a:off x="-12051" y="26636761"/>
            <a:ext cx="270824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 Pressure</a:t>
            </a: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9 shows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Calibrated against: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tool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Adjusted using: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Libraries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 came from: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Tube leakages and diameter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D94C34-4EF6-2623-0B6C-888222028B4D}"/>
              </a:ext>
            </a:extLst>
          </p:cNvPr>
          <p:cNvSpPr txBox="1"/>
          <p:nvPr/>
        </p:nvSpPr>
        <p:spPr>
          <a:xfrm>
            <a:off x="13003883" y="22855013"/>
            <a:ext cx="28780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Rate: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7 shows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Calibrated against: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Apple Watch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Adjusted using: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Libraries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 came from: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Adjustments for darker skin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0694AF-40FB-B2FD-8DFD-8C5C2FAC0F70}"/>
              </a:ext>
            </a:extLst>
          </p:cNvPr>
          <p:cNvSpPr txBox="1"/>
          <p:nvPr/>
        </p:nvSpPr>
        <p:spPr>
          <a:xfrm>
            <a:off x="13004913" y="26637740"/>
            <a:ext cx="289050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Blood Oxygen: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10 shows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Calibrated against: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Apple Watch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Adjusted using: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Libraries</a:t>
            </a:r>
          </a:p>
          <a:p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 came from: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Adjustments for darker skin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E3752696-6EA3-67DB-2AF3-9FB1AD1A83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968" t="4057" r="1489" b="10523"/>
          <a:stretch>
            <a:fillRect/>
          </a:stretch>
        </p:blipFill>
        <p:spPr>
          <a:xfrm>
            <a:off x="16503237" y="11437824"/>
            <a:ext cx="4605706" cy="3331329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9CC9EA37-B1BC-79C7-4786-2E6324726C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661" y="13691510"/>
            <a:ext cx="4716081" cy="1922271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B051B749-686B-1F7A-0FD1-F760698549D2}"/>
              </a:ext>
            </a:extLst>
          </p:cNvPr>
          <p:cNvSpPr txBox="1"/>
          <p:nvPr/>
        </p:nvSpPr>
        <p:spPr>
          <a:xfrm>
            <a:off x="0" y="15521104"/>
            <a:ext cx="519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Fig. 6: 3D Mock Up of Design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F13D8CB-E0D1-4A69-4BFF-FEE19BBA45FB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911246" y="22937464"/>
            <a:ext cx="5040000" cy="324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5474C11-11B1-866E-236B-ABF6046A9E99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7911246" y="26657338"/>
            <a:ext cx="5040000" cy="324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505BBC4-B81C-2A42-C579-A78254C8D06F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2771936" y="22937464"/>
            <a:ext cx="5040000" cy="324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234419-8361-D156-96B2-32B0CE8C8F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417" y="58483"/>
            <a:ext cx="2198004" cy="217393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76C9CDC-FE18-675B-1CCF-0CC369B920A1}"/>
              </a:ext>
            </a:extLst>
          </p:cNvPr>
          <p:cNvSpPr txBox="1"/>
          <p:nvPr/>
        </p:nvSpPr>
        <p:spPr>
          <a:xfrm>
            <a:off x="8038177" y="2042687"/>
            <a:ext cx="2305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ID: 201723236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D92F5C59-880D-59CE-B878-9B15134784C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874" t="7355" r="1458" b="1422"/>
          <a:stretch>
            <a:fillRect/>
          </a:stretch>
        </p:blipFill>
        <p:spPr>
          <a:xfrm>
            <a:off x="2797215" y="26679215"/>
            <a:ext cx="5040000" cy="321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50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687EC33A54A409EA5AEE64BC8B541" ma:contentTypeVersion="7" ma:contentTypeDescription="Create a new document." ma:contentTypeScope="" ma:versionID="25e53fdaf136efd65d67c912ea2e6008">
  <xsd:schema xmlns:xsd="http://www.w3.org/2001/XMLSchema" xmlns:xs="http://www.w3.org/2001/XMLSchema" xmlns:p="http://schemas.microsoft.com/office/2006/metadata/properties" xmlns:ns2="f28bd323-a8bc-4479-87a5-867dae8b5e10" targetNamespace="http://schemas.microsoft.com/office/2006/metadata/properties" ma:root="true" ma:fieldsID="4c21d507e1dbefeeaed8fa7b48caa39b" ns2:_="">
    <xsd:import namespace="f28bd323-a8bc-4479-87a5-867dae8b5e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8bd323-a8bc-4479-87a5-867dae8b5e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4902AA-425F-4E07-AD25-9ED2FCA5B4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8bd323-a8bc-4479-87a5-867dae8b5e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66E360-0786-416F-8535-92CC1C26C91E}">
  <ds:schemaRefs>
    <ds:schemaRef ds:uri="http://purl.org/dc/terms/"/>
    <ds:schemaRef ds:uri="http://schemas.microsoft.com/office/infopath/2007/PartnerControls"/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f28bd323-a8bc-4479-87a5-867dae8b5e1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7D3388E-8F18-4A61-AF87-5804BB249A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1374</TotalTime>
  <Words>764</Words>
  <Application>Microsoft Office PowerPoint</Application>
  <PresentationFormat>Custom</PresentationFormat>
  <Paragraphs>101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Taher, Hamza</dc:creator>
  <cp:lastModifiedBy>Taher, Hamza</cp:lastModifiedBy>
  <cp:revision>17</cp:revision>
  <dcterms:created xsi:type="dcterms:W3CDTF">2026-01-26T11:15:01Z</dcterms:created>
  <dcterms:modified xsi:type="dcterms:W3CDTF">2026-03-13T02:19:33Z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0x010100D20687EC33A54A409EA5AEE64BC8B541</vt:lpwstr>
  </property>
</Properties>
</file>